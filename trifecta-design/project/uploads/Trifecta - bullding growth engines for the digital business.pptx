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Google Sans"/>
      <p:regular r:id="rId16"/>
      <p:bold r:id="rId17"/>
      <p:italic r:id="rId18"/>
      <p:boldItalic r:id="rId19"/>
    </p:embeddedFont>
    <p:embeddedFont>
      <p:font typeface="Google Sans Medium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oogleSansMedium-regular.fntdata"/><Relationship Id="rId11" Type="http://schemas.openxmlformats.org/officeDocument/2006/relationships/slide" Target="slides/slide6.xml"/><Relationship Id="rId22" Type="http://schemas.openxmlformats.org/officeDocument/2006/relationships/font" Target="fonts/GoogleSansMedium-italic.fntdata"/><Relationship Id="rId10" Type="http://schemas.openxmlformats.org/officeDocument/2006/relationships/slide" Target="slides/slide5.xml"/><Relationship Id="rId21" Type="http://schemas.openxmlformats.org/officeDocument/2006/relationships/font" Target="fonts/GoogleSansMedium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GoogleSansMedium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GoogleSans-bold.fntdata"/><Relationship Id="rId16" Type="http://schemas.openxmlformats.org/officeDocument/2006/relationships/font" Target="fonts/Google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GoogleSans-boldItalic.fntdata"/><Relationship Id="rId6" Type="http://schemas.openxmlformats.org/officeDocument/2006/relationships/slide" Target="slides/slide1.xml"/><Relationship Id="rId18" Type="http://schemas.openxmlformats.org/officeDocument/2006/relationships/font" Target="fonts/Google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46f63c2c2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46f63c2c2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e46f63c2c2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e46f63c2c2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46f63c2c2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46f63c2c2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46f63c2c2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e46f63c2c2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46f63c2c2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e46f63c2c2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46f63c2c2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e46f63c2c2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46f63c2c2_0_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e46f63c2c2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e46f63c2c2_1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e46f63c2c2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e46f63c2c2_17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e46f63c2c2_17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73150" y="516575"/>
            <a:ext cx="5477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000" u="none" cap="none" strike="noStrike">
                <a:solidFill>
                  <a:srgbClr val="0000FF"/>
                </a:solidFill>
                <a:latin typeface="Google Sans"/>
                <a:ea typeface="Google Sans"/>
                <a:cs typeface="Google Sans"/>
                <a:sym typeface="Google Sans"/>
              </a:rPr>
              <a:t>T</a:t>
            </a:r>
            <a:r>
              <a:rPr b="1" lang="en" sz="4000">
                <a:solidFill>
                  <a:srgbClr val="0000FF"/>
                </a:solidFill>
                <a:latin typeface="Google Sans"/>
                <a:ea typeface="Google Sans"/>
                <a:cs typeface="Google Sans"/>
                <a:sym typeface="Google Sans"/>
              </a:rPr>
              <a:t>rifecta</a:t>
            </a:r>
            <a:endParaRPr b="1" sz="4000">
              <a:solidFill>
                <a:srgbClr val="0000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450825" y="1183288"/>
            <a:ext cx="7163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3000" u="none" cap="none" strike="noStrike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We design and build growth engines for digital centric businesses.</a:t>
            </a:r>
            <a:endParaRPr sz="3000">
              <a:solidFill>
                <a:srgbClr val="000000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73150" y="2825200"/>
            <a:ext cx="3173400" cy="2154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We build Bayesian Causal inference Marketing Mix Models using Google Meridien, supported by Model Calibration and Hypothesis Formulation engines. </a:t>
            </a:r>
            <a:endParaRPr sz="16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188000" y="2809664"/>
            <a:ext cx="3488700" cy="14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This makes your growth predictable, privacy-proof and able to answer complex “what-if” questions needed to manage growth investments.</a:t>
            </a:r>
            <a:endParaRPr sz="16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373150" y="516575"/>
            <a:ext cx="5477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000FF"/>
                </a:solidFill>
                <a:latin typeface="Google Sans"/>
                <a:ea typeface="Google Sans"/>
                <a:cs typeface="Google Sans"/>
                <a:sym typeface="Google Sans"/>
              </a:rPr>
              <a:t>The problem</a:t>
            </a:r>
            <a:endParaRPr b="1" sz="4000">
              <a:solidFill>
                <a:srgbClr val="0000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373150" y="1183300"/>
            <a:ext cx="76410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29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Half the money I spend on growth is wasted; the trouble is I don’t know which half.</a:t>
            </a:r>
            <a:endParaRPr sz="3000">
              <a:solidFill>
                <a:srgbClr val="000000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373150" y="2716425"/>
            <a:ext cx="3173400" cy="190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Complex consumer journeys and tightening privacy restrictions have made media, marketing, and growth marketing investments unscientific.</a:t>
            </a:r>
            <a:endParaRPr sz="16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4250150" y="2716425"/>
            <a:ext cx="4206600" cy="17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Rigorous questions of incrementality and what-if simulations are not part of the budget setting practice; these questions are deemed unanswerable. Businesses continue to rely on obsolete and simplistic metrics that have limited value.</a:t>
            </a:r>
            <a:endParaRPr sz="16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/>
        </p:nvSpPr>
        <p:spPr>
          <a:xfrm>
            <a:off x="373150" y="516575"/>
            <a:ext cx="5477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0000FF"/>
                </a:solidFill>
                <a:latin typeface="Google Sans"/>
                <a:ea typeface="Google Sans"/>
                <a:cs typeface="Google Sans"/>
                <a:sym typeface="Google Sans"/>
              </a:rPr>
              <a:t>The Trifecta Approach</a:t>
            </a:r>
            <a:endParaRPr b="1" sz="3600">
              <a:solidFill>
                <a:srgbClr val="0000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373150" y="1121150"/>
            <a:ext cx="8720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Model, Calibration &amp; Hypothesis formulation engines</a:t>
            </a:r>
            <a:r>
              <a:rPr lang="en" sz="29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sz="29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334300" y="2229875"/>
            <a:ext cx="24507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FF"/>
                </a:solidFill>
                <a:latin typeface="Google Sans"/>
                <a:ea typeface="Google Sans"/>
                <a:cs typeface="Google Sans"/>
                <a:sym typeface="Google Sans"/>
              </a:rPr>
              <a:t>Google Meridian</a:t>
            </a:r>
            <a:endParaRPr sz="1800">
              <a:solidFill>
                <a:srgbClr val="0000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Sophisticated Bayesian causal inference revealing the true, holistic impact of investments—at zero software cost.</a:t>
            </a:r>
            <a:endParaRPr sz="18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3346638" y="2222120"/>
            <a:ext cx="24507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FF"/>
                </a:solidFill>
                <a:latin typeface="Google Sans"/>
                <a:ea typeface="Google Sans"/>
                <a:cs typeface="Google Sans"/>
                <a:sym typeface="Google Sans"/>
              </a:rPr>
              <a:t>Bayesian Calibration</a:t>
            </a:r>
            <a:endParaRPr sz="1800">
              <a:solidFill>
                <a:srgbClr val="0000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Continuous, scaled Geo-holdout tests that feed back into the MMM, increasing future prediction accuracy.</a:t>
            </a:r>
            <a:endParaRPr sz="15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6449000" y="2211595"/>
            <a:ext cx="24507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FF"/>
                </a:solidFill>
                <a:latin typeface="Google Sans"/>
                <a:ea typeface="Google Sans"/>
                <a:cs typeface="Google Sans"/>
                <a:sym typeface="Google Sans"/>
              </a:rPr>
              <a:t>Hypothesis Engine</a:t>
            </a:r>
            <a:endParaRPr sz="1800">
              <a:solidFill>
                <a:srgbClr val="0000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Privacy-safe data clean room tracking cross-device journeys and fractionalizing credit via Data-Driven Attribution, powered by Ads Data Hub</a:t>
            </a:r>
            <a:endParaRPr sz="15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/>
        </p:nvSpPr>
        <p:spPr>
          <a:xfrm>
            <a:off x="373150" y="516575"/>
            <a:ext cx="8177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0000FF"/>
                </a:solidFill>
                <a:latin typeface="Google Sans"/>
                <a:ea typeface="Google Sans"/>
                <a:cs typeface="Google Sans"/>
                <a:sym typeface="Google Sans"/>
              </a:rPr>
              <a:t>Navigating Growth with Trifecta</a:t>
            </a:r>
            <a:endParaRPr b="1" sz="3600">
              <a:solidFill>
                <a:srgbClr val="0000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373150" y="1070675"/>
            <a:ext cx="8277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Questions to ask while planning growth</a:t>
            </a:r>
            <a:r>
              <a:rPr lang="en" sz="29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sz="29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342050" y="2260950"/>
            <a:ext cx="24507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FF"/>
                </a:solidFill>
                <a:latin typeface="Google Sans"/>
                <a:ea typeface="Google Sans"/>
                <a:cs typeface="Google Sans"/>
                <a:sym typeface="Google Sans"/>
              </a:rPr>
              <a:t>Incrementality</a:t>
            </a:r>
            <a:endParaRPr sz="1800">
              <a:solidFill>
                <a:srgbClr val="0000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Which spends are driving true business lift?</a:t>
            </a:r>
            <a:endParaRPr sz="15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What will happen if I eliminate all non-SAN app network spending ?</a:t>
            </a:r>
            <a:endParaRPr sz="15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3346638" y="2260950"/>
            <a:ext cx="24507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FF"/>
                </a:solidFill>
                <a:latin typeface="Google Sans"/>
                <a:ea typeface="Google Sans"/>
                <a:cs typeface="Google Sans"/>
                <a:sym typeface="Google Sans"/>
              </a:rPr>
              <a:t>What if simulations</a:t>
            </a:r>
            <a:endParaRPr sz="1800">
              <a:solidFill>
                <a:srgbClr val="0000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If I increase TV TRPs by 20%, what new customer acquisition can I expect?</a:t>
            </a:r>
            <a:endParaRPr sz="15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6417925" y="2260950"/>
            <a:ext cx="24507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FF"/>
                </a:solidFill>
                <a:latin typeface="Google Sans"/>
                <a:ea typeface="Google Sans"/>
                <a:cs typeface="Google Sans"/>
                <a:sym typeface="Google Sans"/>
              </a:rPr>
              <a:t>Efficiency</a:t>
            </a:r>
            <a:r>
              <a:rPr lang="en" sz="1800">
                <a:solidFill>
                  <a:srgbClr val="0000FF"/>
                </a:solidFill>
                <a:latin typeface="Google Sans"/>
                <a:ea typeface="Google Sans"/>
                <a:cs typeface="Google Sans"/>
                <a:sym typeface="Google Sans"/>
              </a:rPr>
              <a:t> and Scale</a:t>
            </a:r>
            <a:endParaRPr sz="1800">
              <a:solidFill>
                <a:srgbClr val="0000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Identify channels that don't drive incrementality vs. those that are underutilized</a:t>
            </a:r>
            <a:endParaRPr sz="15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/>
        </p:nvSpPr>
        <p:spPr>
          <a:xfrm>
            <a:off x="373150" y="516575"/>
            <a:ext cx="8177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0000FF"/>
                </a:solidFill>
                <a:latin typeface="Google Sans"/>
                <a:ea typeface="Google Sans"/>
                <a:cs typeface="Google Sans"/>
                <a:sym typeface="Google Sans"/>
              </a:rPr>
              <a:t>Navigating Growth with Trifecta</a:t>
            </a:r>
            <a:endParaRPr b="1" sz="3600">
              <a:solidFill>
                <a:srgbClr val="0000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373150" y="1070675"/>
            <a:ext cx="8277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Avoiding </a:t>
            </a:r>
            <a:r>
              <a:rPr lang="en" sz="29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errors of commission and omission</a:t>
            </a:r>
            <a:endParaRPr sz="29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342050" y="2260950"/>
            <a:ext cx="24507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FF"/>
                </a:solidFill>
                <a:latin typeface="Google Sans"/>
                <a:ea typeface="Google Sans"/>
                <a:cs typeface="Google Sans"/>
                <a:sym typeface="Google Sans"/>
              </a:rPr>
              <a:t>Errors of Commission</a:t>
            </a:r>
            <a:endParaRPr sz="1800">
              <a:solidFill>
                <a:srgbClr val="0000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Spending money on channels that do not drive the business. Wasting money when we should have not.</a:t>
            </a:r>
            <a:endParaRPr sz="15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4108038" y="2260950"/>
            <a:ext cx="24507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FF"/>
                </a:solidFill>
                <a:latin typeface="Google Sans"/>
                <a:ea typeface="Google Sans"/>
                <a:cs typeface="Google Sans"/>
                <a:sym typeface="Google Sans"/>
              </a:rPr>
              <a:t>Errors of Omission</a:t>
            </a:r>
            <a:endParaRPr sz="1800">
              <a:solidFill>
                <a:srgbClr val="0000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Not investing in media or marketing channels that do drive the business. Not spending when we should have.</a:t>
            </a:r>
            <a:endParaRPr sz="15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/>
        </p:nvSpPr>
        <p:spPr>
          <a:xfrm>
            <a:off x="373150" y="516575"/>
            <a:ext cx="8177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0000FF"/>
                </a:solidFill>
                <a:latin typeface="Google Sans"/>
                <a:ea typeface="Google Sans"/>
                <a:cs typeface="Google Sans"/>
                <a:sym typeface="Google Sans"/>
              </a:rPr>
              <a:t>Internalise the engine</a:t>
            </a:r>
            <a:endParaRPr b="1" sz="3600">
              <a:solidFill>
                <a:srgbClr val="0000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7" name="Google Shape;97;p18"/>
          <p:cNvSpPr txBox="1"/>
          <p:nvPr/>
        </p:nvSpPr>
        <p:spPr>
          <a:xfrm>
            <a:off x="373150" y="1070675"/>
            <a:ext cx="8277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Growth is too important to be outsourced</a:t>
            </a:r>
            <a:endParaRPr sz="29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98" name="Google Shape;98;p18"/>
          <p:cNvSpPr txBox="1"/>
          <p:nvPr/>
        </p:nvSpPr>
        <p:spPr>
          <a:xfrm>
            <a:off x="342050" y="2260950"/>
            <a:ext cx="35775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FF"/>
                </a:solidFill>
                <a:latin typeface="Google Sans"/>
                <a:ea typeface="Google Sans"/>
                <a:cs typeface="Google Sans"/>
                <a:sym typeface="Google Sans"/>
              </a:rPr>
              <a:t>Growth has to be driven internally</a:t>
            </a:r>
            <a:endParaRPr sz="1600">
              <a:solidFill>
                <a:srgbClr val="0000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Growth is the lifeblood of the business and cannot be </a:t>
            </a:r>
            <a:r>
              <a:rPr lang="en" sz="15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outsourced</a:t>
            </a:r>
            <a:r>
              <a:rPr lang="en" sz="15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 to </a:t>
            </a:r>
            <a:r>
              <a:rPr lang="en" sz="15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consultants</a:t>
            </a:r>
            <a:r>
              <a:rPr lang="en" sz="15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 or 3rd party platforms. </a:t>
            </a:r>
            <a:endParaRPr sz="15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It has to be managed and diffused from inside the organisation, with </a:t>
            </a:r>
            <a:r>
              <a:rPr lang="en" sz="15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democratic</a:t>
            </a:r>
            <a:r>
              <a:rPr lang="en" sz="15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 access to all. </a:t>
            </a:r>
            <a:endParaRPr sz="15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9" name="Google Shape;99;p18"/>
          <p:cNvSpPr txBox="1"/>
          <p:nvPr/>
        </p:nvSpPr>
        <p:spPr>
          <a:xfrm>
            <a:off x="4488559" y="2260950"/>
            <a:ext cx="41625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FF"/>
                </a:solidFill>
                <a:latin typeface="Google Sans"/>
                <a:ea typeface="Google Sans"/>
                <a:cs typeface="Google Sans"/>
                <a:sym typeface="Google Sans"/>
              </a:rPr>
              <a:t>Design and Build your own growth engine</a:t>
            </a:r>
            <a:endParaRPr sz="1600">
              <a:solidFill>
                <a:srgbClr val="0000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That’s where we come in. We help design, build, operate and transfer this growth engine, and help embed it into the core of all growth investment </a:t>
            </a:r>
            <a:r>
              <a:rPr lang="en" sz="15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decision</a:t>
            </a:r>
            <a:r>
              <a:rPr lang="en" sz="15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 making.</a:t>
            </a:r>
            <a:endParaRPr sz="15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/>
        </p:nvSpPr>
        <p:spPr>
          <a:xfrm>
            <a:off x="381000" y="285750"/>
            <a:ext cx="83820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000FF"/>
                </a:solidFill>
                <a:latin typeface="Google Sans"/>
                <a:ea typeface="Google Sans"/>
                <a:cs typeface="Google Sans"/>
                <a:sym typeface="Google Sans"/>
              </a:rPr>
              <a:t>Growth Engine Architecture</a:t>
            </a:r>
            <a:endParaRPr b="1" sz="3200">
              <a:solidFill>
                <a:srgbClr val="0000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105" name="Google Shape;105;p19"/>
          <p:cNvGrpSpPr/>
          <p:nvPr/>
        </p:nvGrpSpPr>
        <p:grpSpPr>
          <a:xfrm>
            <a:off x="381000" y="1047750"/>
            <a:ext cx="8382000" cy="1047900"/>
            <a:chOff x="381000" y="1047750"/>
            <a:chExt cx="8382000" cy="1047900"/>
          </a:xfrm>
        </p:grpSpPr>
        <p:sp>
          <p:nvSpPr>
            <p:cNvPr id="106" name="Google Shape;106;p19"/>
            <p:cNvSpPr/>
            <p:nvPr/>
          </p:nvSpPr>
          <p:spPr>
            <a:xfrm>
              <a:off x="381000" y="1047750"/>
              <a:ext cx="8382000" cy="1047900"/>
            </a:xfrm>
            <a:prstGeom prst="roundRect">
              <a:avLst>
                <a:gd fmla="val 10909" name="adj"/>
              </a:avLst>
            </a:prstGeom>
            <a:solidFill>
              <a:srgbClr val="F8F9FA"/>
            </a:solidFill>
            <a:ln cap="flat" cmpd="sng" w="9525">
              <a:solidFill>
                <a:srgbClr val="E8EA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9"/>
            <p:cNvSpPr txBox="1"/>
            <p:nvPr/>
          </p:nvSpPr>
          <p:spPr>
            <a:xfrm>
              <a:off x="571500" y="1190625"/>
              <a:ext cx="1524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5F6368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Measure and Prove</a:t>
              </a:r>
              <a:endParaRPr b="1" sz="1400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sp>
          <p:nvSpPr>
            <p:cNvPr id="108" name="Google Shape;108;p19"/>
            <p:cNvSpPr txBox="1"/>
            <p:nvPr/>
          </p:nvSpPr>
          <p:spPr>
            <a:xfrm>
              <a:off x="2286000" y="1143000"/>
              <a:ext cx="6286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000FF"/>
                  </a:solidFill>
                  <a:latin typeface="Google Sans Medium"/>
                  <a:ea typeface="Google Sans Medium"/>
                  <a:cs typeface="Google Sans Medium"/>
                  <a:sym typeface="Google Sans Medium"/>
                </a:rPr>
                <a:t>Unified Causal Measurement Engine</a:t>
              </a:r>
              <a:endParaRPr b="0" sz="1100">
                <a:solidFill>
                  <a:srgbClr val="0000FF"/>
                </a:solidFill>
                <a:latin typeface="Google Sans Medium"/>
                <a:ea typeface="Google Sans Medium"/>
                <a:cs typeface="Google Sans Medium"/>
                <a:sym typeface="Google Sans Medium"/>
              </a:endParaRPr>
            </a:p>
          </p:txBody>
        </p:sp>
        <p:grpSp>
          <p:nvGrpSpPr>
            <p:cNvPr id="109" name="Google Shape;109;p19"/>
            <p:cNvGrpSpPr/>
            <p:nvPr/>
          </p:nvGrpSpPr>
          <p:grpSpPr>
            <a:xfrm>
              <a:off x="2286000" y="1476375"/>
              <a:ext cx="5381775" cy="428700"/>
              <a:chOff x="0" y="0"/>
              <a:chExt cx="5381775" cy="428700"/>
            </a:xfrm>
          </p:grpSpPr>
          <p:sp>
            <p:nvSpPr>
              <p:cNvPr id="110" name="Google Shape;110;p19"/>
              <p:cNvSpPr/>
              <p:nvPr/>
            </p:nvSpPr>
            <p:spPr>
              <a:xfrm>
                <a:off x="0" y="0"/>
                <a:ext cx="1238400" cy="428700"/>
              </a:xfrm>
              <a:prstGeom prst="roundRect">
                <a:avLst>
                  <a:gd fmla="val 48888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DADCE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19"/>
              <p:cNvSpPr txBox="1"/>
              <p:nvPr/>
            </p:nvSpPr>
            <p:spPr>
              <a:xfrm>
                <a:off x="0" y="0"/>
                <a:ext cx="12384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3C4043"/>
                    </a:solidFill>
                    <a:latin typeface="Google Sans"/>
                    <a:ea typeface="Google Sans"/>
                    <a:cs typeface="Google Sans"/>
                    <a:sym typeface="Google Sans"/>
                  </a:rPr>
                  <a:t>Casual MMM</a:t>
                </a:r>
                <a:endParaRPr sz="1000">
                  <a:solidFill>
                    <a:srgbClr val="3C4043"/>
                  </a:solidFill>
                  <a:latin typeface="Google Sans"/>
                  <a:ea typeface="Google Sans"/>
                  <a:cs typeface="Google Sans"/>
                  <a:sym typeface="Google Sans"/>
                </a:endParaRPr>
              </a:p>
            </p:txBody>
          </p:sp>
          <p:sp>
            <p:nvSpPr>
              <p:cNvPr id="112" name="Google Shape;112;p19"/>
              <p:cNvSpPr/>
              <p:nvPr/>
            </p:nvSpPr>
            <p:spPr>
              <a:xfrm>
                <a:off x="1381125" y="0"/>
                <a:ext cx="1238400" cy="428700"/>
              </a:xfrm>
              <a:prstGeom prst="roundRect">
                <a:avLst>
                  <a:gd fmla="val 48888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DADCE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" name="Google Shape;113;p19"/>
              <p:cNvSpPr txBox="1"/>
              <p:nvPr/>
            </p:nvSpPr>
            <p:spPr>
              <a:xfrm>
                <a:off x="1381125" y="0"/>
                <a:ext cx="12384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3C4043"/>
                    </a:solidFill>
                    <a:latin typeface="Google Sans"/>
                    <a:ea typeface="Google Sans"/>
                    <a:cs typeface="Google Sans"/>
                    <a:sym typeface="Google Sans"/>
                  </a:rPr>
                  <a:t>Incrementality</a:t>
                </a:r>
                <a:endParaRPr sz="1000">
                  <a:solidFill>
                    <a:srgbClr val="3C4043"/>
                  </a:solidFill>
                  <a:latin typeface="Google Sans"/>
                  <a:ea typeface="Google Sans"/>
                  <a:cs typeface="Google Sans"/>
                  <a:sym typeface="Google Sans"/>
                </a:endParaRPr>
              </a:p>
            </p:txBody>
          </p:sp>
          <p:sp>
            <p:nvSpPr>
              <p:cNvPr id="114" name="Google Shape;114;p19"/>
              <p:cNvSpPr/>
              <p:nvPr/>
            </p:nvSpPr>
            <p:spPr>
              <a:xfrm>
                <a:off x="2762250" y="0"/>
                <a:ext cx="1238400" cy="428700"/>
              </a:xfrm>
              <a:prstGeom prst="roundRect">
                <a:avLst>
                  <a:gd fmla="val 48888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DADCE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19"/>
              <p:cNvSpPr txBox="1"/>
              <p:nvPr/>
            </p:nvSpPr>
            <p:spPr>
              <a:xfrm>
                <a:off x="2762250" y="0"/>
                <a:ext cx="12384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3C4043"/>
                    </a:solidFill>
                    <a:latin typeface="Google Sans"/>
                    <a:ea typeface="Google Sans"/>
                    <a:cs typeface="Google Sans"/>
                    <a:sym typeface="Google Sans"/>
                  </a:rPr>
                  <a:t>Model Calibration</a:t>
                </a:r>
                <a:endParaRPr sz="1000">
                  <a:solidFill>
                    <a:srgbClr val="3C4043"/>
                  </a:solidFill>
                  <a:latin typeface="Google Sans"/>
                  <a:ea typeface="Google Sans"/>
                  <a:cs typeface="Google Sans"/>
                  <a:sym typeface="Google Sans"/>
                </a:endParaRPr>
              </a:p>
            </p:txBody>
          </p:sp>
          <p:sp>
            <p:nvSpPr>
              <p:cNvPr id="116" name="Google Shape;116;p19"/>
              <p:cNvSpPr/>
              <p:nvPr/>
            </p:nvSpPr>
            <p:spPr>
              <a:xfrm>
                <a:off x="4143375" y="0"/>
                <a:ext cx="1238400" cy="428700"/>
              </a:xfrm>
              <a:prstGeom prst="roundRect">
                <a:avLst>
                  <a:gd fmla="val 48888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DADCE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19"/>
              <p:cNvSpPr txBox="1"/>
              <p:nvPr/>
            </p:nvSpPr>
            <p:spPr>
              <a:xfrm>
                <a:off x="4143375" y="0"/>
                <a:ext cx="12384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3C4043"/>
                    </a:solidFill>
                    <a:latin typeface="Google Sans"/>
                    <a:ea typeface="Google Sans"/>
                    <a:cs typeface="Google Sans"/>
                    <a:sym typeface="Google Sans"/>
                  </a:rPr>
                  <a:t>Forecasting</a:t>
                </a:r>
                <a:endParaRPr sz="1000">
                  <a:solidFill>
                    <a:srgbClr val="3C4043"/>
                  </a:solidFill>
                  <a:latin typeface="Google Sans"/>
                  <a:ea typeface="Google Sans"/>
                  <a:cs typeface="Google Sans"/>
                  <a:sym typeface="Google Sans"/>
                </a:endParaRPr>
              </a:p>
            </p:txBody>
          </p:sp>
        </p:grpSp>
      </p:grpSp>
      <p:grpSp>
        <p:nvGrpSpPr>
          <p:cNvPr id="118" name="Google Shape;118;p19"/>
          <p:cNvGrpSpPr/>
          <p:nvPr/>
        </p:nvGrpSpPr>
        <p:grpSpPr>
          <a:xfrm>
            <a:off x="381000" y="2286000"/>
            <a:ext cx="8382000" cy="1047900"/>
            <a:chOff x="381000" y="2286000"/>
            <a:chExt cx="8382000" cy="1047900"/>
          </a:xfrm>
        </p:grpSpPr>
        <p:sp>
          <p:nvSpPr>
            <p:cNvPr id="119" name="Google Shape;119;p19"/>
            <p:cNvSpPr/>
            <p:nvPr/>
          </p:nvSpPr>
          <p:spPr>
            <a:xfrm>
              <a:off x="381000" y="2286000"/>
              <a:ext cx="8382000" cy="1047900"/>
            </a:xfrm>
            <a:prstGeom prst="roundRect">
              <a:avLst>
                <a:gd fmla="val 10909" name="adj"/>
              </a:avLst>
            </a:prstGeom>
            <a:solidFill>
              <a:srgbClr val="F1F3F4"/>
            </a:solidFill>
            <a:ln cap="flat" cmpd="sng" w="9525">
              <a:solidFill>
                <a:srgbClr val="E8EA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9"/>
            <p:cNvSpPr txBox="1"/>
            <p:nvPr/>
          </p:nvSpPr>
          <p:spPr>
            <a:xfrm>
              <a:off x="571500" y="2428875"/>
              <a:ext cx="1524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5F6368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Decide and Act</a:t>
              </a:r>
              <a:endParaRPr b="1" sz="1400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sp>
          <p:nvSpPr>
            <p:cNvPr id="121" name="Google Shape;121;p19"/>
            <p:cNvSpPr txBox="1"/>
            <p:nvPr/>
          </p:nvSpPr>
          <p:spPr>
            <a:xfrm>
              <a:off x="2286000" y="2381250"/>
              <a:ext cx="6286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000FF"/>
                  </a:solidFill>
                  <a:latin typeface="Google Sans Medium"/>
                  <a:ea typeface="Google Sans Medium"/>
                  <a:cs typeface="Google Sans Medium"/>
                  <a:sym typeface="Google Sans Medium"/>
                </a:rPr>
                <a:t>Ai Decision Layer</a:t>
              </a:r>
              <a:endParaRPr b="0" sz="1100">
                <a:solidFill>
                  <a:srgbClr val="0000FF"/>
                </a:solidFill>
                <a:latin typeface="Google Sans Medium"/>
                <a:ea typeface="Google Sans Medium"/>
                <a:cs typeface="Google Sans Medium"/>
                <a:sym typeface="Google Sans Medium"/>
              </a:endParaRPr>
            </a:p>
          </p:txBody>
        </p:sp>
        <p:grpSp>
          <p:nvGrpSpPr>
            <p:cNvPr id="122" name="Google Shape;122;p19"/>
            <p:cNvGrpSpPr/>
            <p:nvPr/>
          </p:nvGrpSpPr>
          <p:grpSpPr>
            <a:xfrm>
              <a:off x="2286000" y="2714625"/>
              <a:ext cx="5381775" cy="428700"/>
              <a:chOff x="0" y="0"/>
              <a:chExt cx="5381775" cy="428700"/>
            </a:xfrm>
          </p:grpSpPr>
          <p:sp>
            <p:nvSpPr>
              <p:cNvPr id="123" name="Google Shape;123;p19"/>
              <p:cNvSpPr/>
              <p:nvPr/>
            </p:nvSpPr>
            <p:spPr>
              <a:xfrm>
                <a:off x="0" y="0"/>
                <a:ext cx="1238400" cy="428700"/>
              </a:xfrm>
              <a:prstGeom prst="roundRect">
                <a:avLst>
                  <a:gd fmla="val 48888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DADCE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19"/>
              <p:cNvSpPr txBox="1"/>
              <p:nvPr/>
            </p:nvSpPr>
            <p:spPr>
              <a:xfrm>
                <a:off x="0" y="0"/>
                <a:ext cx="12384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3C4043"/>
                    </a:solidFill>
                    <a:latin typeface="Google Sans"/>
                    <a:ea typeface="Google Sans"/>
                    <a:cs typeface="Google Sans"/>
                    <a:sym typeface="Google Sans"/>
                  </a:rPr>
                  <a:t>Budget Optimisation</a:t>
                </a:r>
                <a:endParaRPr sz="1000">
                  <a:solidFill>
                    <a:srgbClr val="3C4043"/>
                  </a:solidFill>
                  <a:latin typeface="Google Sans"/>
                  <a:ea typeface="Google Sans"/>
                  <a:cs typeface="Google Sans"/>
                  <a:sym typeface="Google Sans"/>
                </a:endParaRPr>
              </a:p>
            </p:txBody>
          </p:sp>
          <p:sp>
            <p:nvSpPr>
              <p:cNvPr id="125" name="Google Shape;125;p19"/>
              <p:cNvSpPr/>
              <p:nvPr/>
            </p:nvSpPr>
            <p:spPr>
              <a:xfrm>
                <a:off x="1381125" y="0"/>
                <a:ext cx="1238400" cy="428700"/>
              </a:xfrm>
              <a:prstGeom prst="roundRect">
                <a:avLst>
                  <a:gd fmla="val 48888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DADCE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" name="Google Shape;126;p19"/>
              <p:cNvSpPr txBox="1"/>
              <p:nvPr/>
            </p:nvSpPr>
            <p:spPr>
              <a:xfrm>
                <a:off x="1381125" y="0"/>
                <a:ext cx="12384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3C4043"/>
                    </a:solidFill>
                    <a:latin typeface="Google Sans"/>
                    <a:ea typeface="Google Sans"/>
                    <a:cs typeface="Google Sans"/>
                    <a:sym typeface="Google Sans"/>
                  </a:rPr>
                  <a:t>Scenario Planning</a:t>
                </a:r>
                <a:endParaRPr sz="1000">
                  <a:solidFill>
                    <a:srgbClr val="3C4043"/>
                  </a:solidFill>
                  <a:latin typeface="Google Sans"/>
                  <a:ea typeface="Google Sans"/>
                  <a:cs typeface="Google Sans"/>
                  <a:sym typeface="Google Sans"/>
                </a:endParaRPr>
              </a:p>
            </p:txBody>
          </p:sp>
          <p:sp>
            <p:nvSpPr>
              <p:cNvPr id="127" name="Google Shape;127;p19"/>
              <p:cNvSpPr/>
              <p:nvPr/>
            </p:nvSpPr>
            <p:spPr>
              <a:xfrm>
                <a:off x="2762250" y="0"/>
                <a:ext cx="1238400" cy="428700"/>
              </a:xfrm>
              <a:prstGeom prst="roundRect">
                <a:avLst>
                  <a:gd fmla="val 48888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DADCE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19"/>
              <p:cNvSpPr txBox="1"/>
              <p:nvPr/>
            </p:nvSpPr>
            <p:spPr>
              <a:xfrm>
                <a:off x="2762250" y="0"/>
                <a:ext cx="12384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3C4043"/>
                    </a:solidFill>
                    <a:latin typeface="Google Sans"/>
                    <a:ea typeface="Google Sans"/>
                    <a:cs typeface="Google Sans"/>
                    <a:sym typeface="Google Sans"/>
                  </a:rPr>
                  <a:t>CFO Reporting</a:t>
                </a:r>
                <a:endParaRPr sz="1000">
                  <a:solidFill>
                    <a:srgbClr val="3C4043"/>
                  </a:solidFill>
                  <a:latin typeface="Google Sans"/>
                  <a:ea typeface="Google Sans"/>
                  <a:cs typeface="Google Sans"/>
                  <a:sym typeface="Google Sans"/>
                </a:endParaRPr>
              </a:p>
            </p:txBody>
          </p:sp>
          <p:sp>
            <p:nvSpPr>
              <p:cNvPr id="129" name="Google Shape;129;p19"/>
              <p:cNvSpPr/>
              <p:nvPr/>
            </p:nvSpPr>
            <p:spPr>
              <a:xfrm>
                <a:off x="4143375" y="0"/>
                <a:ext cx="1238400" cy="428700"/>
              </a:xfrm>
              <a:prstGeom prst="roundRect">
                <a:avLst>
                  <a:gd fmla="val 48888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DADCE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" name="Google Shape;130;p19"/>
              <p:cNvSpPr txBox="1"/>
              <p:nvPr/>
            </p:nvSpPr>
            <p:spPr>
              <a:xfrm>
                <a:off x="4143375" y="0"/>
                <a:ext cx="12384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3C4043"/>
                    </a:solidFill>
                    <a:latin typeface="Google Sans"/>
                    <a:ea typeface="Google Sans"/>
                    <a:cs typeface="Google Sans"/>
                    <a:sym typeface="Google Sans"/>
                  </a:rPr>
                  <a:t>Creative / Promo</a:t>
                </a:r>
                <a:endParaRPr sz="1000">
                  <a:solidFill>
                    <a:srgbClr val="3C4043"/>
                  </a:solidFill>
                  <a:latin typeface="Google Sans"/>
                  <a:ea typeface="Google Sans"/>
                  <a:cs typeface="Google Sans"/>
                  <a:sym typeface="Google Sans"/>
                </a:endParaRPr>
              </a:p>
            </p:txBody>
          </p:sp>
        </p:grpSp>
      </p:grpSp>
      <p:grpSp>
        <p:nvGrpSpPr>
          <p:cNvPr id="131" name="Google Shape;131;p19"/>
          <p:cNvGrpSpPr/>
          <p:nvPr/>
        </p:nvGrpSpPr>
        <p:grpSpPr>
          <a:xfrm>
            <a:off x="381000" y="3524250"/>
            <a:ext cx="8382000" cy="1047900"/>
            <a:chOff x="381000" y="3524250"/>
            <a:chExt cx="8382000" cy="1047900"/>
          </a:xfrm>
        </p:grpSpPr>
        <p:sp>
          <p:nvSpPr>
            <p:cNvPr id="132" name="Google Shape;132;p19"/>
            <p:cNvSpPr/>
            <p:nvPr/>
          </p:nvSpPr>
          <p:spPr>
            <a:xfrm>
              <a:off x="381000" y="3524250"/>
              <a:ext cx="8382000" cy="1047900"/>
            </a:xfrm>
            <a:prstGeom prst="roundRect">
              <a:avLst>
                <a:gd fmla="val 10909" name="adj"/>
              </a:avLst>
            </a:prstGeom>
            <a:solidFill>
              <a:srgbClr val="E8F0FE"/>
            </a:solidFill>
            <a:ln cap="flat" cmpd="sng" w="9525">
              <a:solidFill>
                <a:srgbClr val="D2E3F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9"/>
            <p:cNvSpPr txBox="1"/>
            <p:nvPr/>
          </p:nvSpPr>
          <p:spPr>
            <a:xfrm>
              <a:off x="571500" y="3667125"/>
              <a:ext cx="1524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5F6368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Understand and Model</a:t>
              </a:r>
              <a:endParaRPr b="1" sz="1400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sp>
          <p:nvSpPr>
            <p:cNvPr id="134" name="Google Shape;134;p19"/>
            <p:cNvSpPr txBox="1"/>
            <p:nvPr/>
          </p:nvSpPr>
          <p:spPr>
            <a:xfrm>
              <a:off x="2286000" y="3619500"/>
              <a:ext cx="6286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0000FF"/>
                  </a:solidFill>
                  <a:latin typeface="Google Sans Medium"/>
                  <a:ea typeface="Google Sans Medium"/>
                  <a:cs typeface="Google Sans Medium"/>
                  <a:sym typeface="Google Sans Medium"/>
                </a:rPr>
                <a:t>Unified Causal Measurement Engine</a:t>
              </a:r>
              <a:endParaRPr b="0" sz="1100">
                <a:solidFill>
                  <a:srgbClr val="0000FF"/>
                </a:solidFill>
                <a:latin typeface="Google Sans Medium"/>
                <a:ea typeface="Google Sans Medium"/>
                <a:cs typeface="Google Sans Medium"/>
                <a:sym typeface="Google Sans Medium"/>
              </a:endParaRPr>
            </a:p>
          </p:txBody>
        </p:sp>
        <p:grpSp>
          <p:nvGrpSpPr>
            <p:cNvPr id="135" name="Google Shape;135;p19"/>
            <p:cNvGrpSpPr/>
            <p:nvPr/>
          </p:nvGrpSpPr>
          <p:grpSpPr>
            <a:xfrm>
              <a:off x="2286000" y="3952875"/>
              <a:ext cx="5381775" cy="428700"/>
              <a:chOff x="0" y="0"/>
              <a:chExt cx="5381775" cy="428700"/>
            </a:xfrm>
          </p:grpSpPr>
          <p:sp>
            <p:nvSpPr>
              <p:cNvPr id="136" name="Google Shape;136;p19"/>
              <p:cNvSpPr/>
              <p:nvPr/>
            </p:nvSpPr>
            <p:spPr>
              <a:xfrm>
                <a:off x="0" y="0"/>
                <a:ext cx="1238400" cy="428700"/>
              </a:xfrm>
              <a:prstGeom prst="roundRect">
                <a:avLst>
                  <a:gd fmla="val 48888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DADCE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" name="Google Shape;137;p19"/>
              <p:cNvSpPr txBox="1"/>
              <p:nvPr/>
            </p:nvSpPr>
            <p:spPr>
              <a:xfrm>
                <a:off x="0" y="0"/>
                <a:ext cx="12384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3C4043"/>
                    </a:solidFill>
                    <a:latin typeface="Google Sans"/>
                    <a:ea typeface="Google Sans"/>
                    <a:cs typeface="Google Sans"/>
                    <a:sym typeface="Google Sans"/>
                  </a:rPr>
                  <a:t>Channel relationships</a:t>
                </a:r>
                <a:endParaRPr sz="1000">
                  <a:solidFill>
                    <a:srgbClr val="3C4043"/>
                  </a:solidFill>
                  <a:latin typeface="Google Sans"/>
                  <a:ea typeface="Google Sans"/>
                  <a:cs typeface="Google Sans"/>
                  <a:sym typeface="Google Sans"/>
                </a:endParaRPr>
              </a:p>
            </p:txBody>
          </p:sp>
          <p:sp>
            <p:nvSpPr>
              <p:cNvPr id="138" name="Google Shape;138;p19"/>
              <p:cNvSpPr/>
              <p:nvPr/>
            </p:nvSpPr>
            <p:spPr>
              <a:xfrm>
                <a:off x="1381125" y="0"/>
                <a:ext cx="1238400" cy="428700"/>
              </a:xfrm>
              <a:prstGeom prst="roundRect">
                <a:avLst>
                  <a:gd fmla="val 48888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DADCE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19"/>
              <p:cNvSpPr txBox="1"/>
              <p:nvPr/>
            </p:nvSpPr>
            <p:spPr>
              <a:xfrm>
                <a:off x="1381125" y="0"/>
                <a:ext cx="12384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3C4043"/>
                    </a:solidFill>
                    <a:latin typeface="Google Sans"/>
                    <a:ea typeface="Google Sans"/>
                    <a:cs typeface="Google Sans"/>
                    <a:sym typeface="Google Sans"/>
                  </a:rPr>
                  <a:t>Audience Segments</a:t>
                </a:r>
                <a:endParaRPr sz="1000">
                  <a:solidFill>
                    <a:srgbClr val="3C4043"/>
                  </a:solidFill>
                  <a:latin typeface="Google Sans"/>
                  <a:ea typeface="Google Sans"/>
                  <a:cs typeface="Google Sans"/>
                  <a:sym typeface="Google Sans"/>
                </a:endParaRPr>
              </a:p>
            </p:txBody>
          </p:sp>
          <p:sp>
            <p:nvSpPr>
              <p:cNvPr id="140" name="Google Shape;140;p19"/>
              <p:cNvSpPr/>
              <p:nvPr/>
            </p:nvSpPr>
            <p:spPr>
              <a:xfrm>
                <a:off x="2762250" y="0"/>
                <a:ext cx="1238400" cy="428700"/>
              </a:xfrm>
              <a:prstGeom prst="roundRect">
                <a:avLst>
                  <a:gd fmla="val 48888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DADCE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" name="Google Shape;141;p19"/>
              <p:cNvSpPr txBox="1"/>
              <p:nvPr/>
            </p:nvSpPr>
            <p:spPr>
              <a:xfrm>
                <a:off x="2762250" y="0"/>
                <a:ext cx="12384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3C4043"/>
                    </a:solidFill>
                    <a:latin typeface="Google Sans"/>
                    <a:ea typeface="Google Sans"/>
                    <a:cs typeface="Google Sans"/>
                    <a:sym typeface="Google Sans"/>
                  </a:rPr>
                  <a:t>Heuristic development</a:t>
                </a:r>
                <a:endParaRPr sz="1000">
                  <a:solidFill>
                    <a:srgbClr val="3C4043"/>
                  </a:solidFill>
                  <a:latin typeface="Google Sans"/>
                  <a:ea typeface="Google Sans"/>
                  <a:cs typeface="Google Sans"/>
                  <a:sym typeface="Google Sans"/>
                </a:endParaRPr>
              </a:p>
            </p:txBody>
          </p:sp>
          <p:sp>
            <p:nvSpPr>
              <p:cNvPr id="142" name="Google Shape;142;p19"/>
              <p:cNvSpPr/>
              <p:nvPr/>
            </p:nvSpPr>
            <p:spPr>
              <a:xfrm>
                <a:off x="4143375" y="0"/>
                <a:ext cx="1238400" cy="428700"/>
              </a:xfrm>
              <a:prstGeom prst="roundRect">
                <a:avLst>
                  <a:gd fmla="val 48888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DADCE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" name="Google Shape;143;p19"/>
              <p:cNvSpPr txBox="1"/>
              <p:nvPr/>
            </p:nvSpPr>
            <p:spPr>
              <a:xfrm>
                <a:off x="4143375" y="0"/>
                <a:ext cx="12384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3C4043"/>
                    </a:solidFill>
                    <a:latin typeface="Google Sans"/>
                    <a:ea typeface="Google Sans"/>
                    <a:cs typeface="Google Sans"/>
                    <a:sym typeface="Google Sans"/>
                  </a:rPr>
                  <a:t>External Variables</a:t>
                </a:r>
                <a:endParaRPr sz="1000">
                  <a:solidFill>
                    <a:srgbClr val="3C4043"/>
                  </a:solidFill>
                  <a:latin typeface="Google Sans"/>
                  <a:ea typeface="Google Sans"/>
                  <a:cs typeface="Google Sans"/>
                  <a:sym typeface="Google Sans"/>
                </a:endParaRP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0"/>
          <p:cNvSpPr txBox="1"/>
          <p:nvPr/>
        </p:nvSpPr>
        <p:spPr>
          <a:xfrm>
            <a:off x="381000" y="3810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000FF"/>
                </a:solidFill>
                <a:latin typeface="Google Sans"/>
                <a:ea typeface="Google Sans"/>
                <a:cs typeface="Google Sans"/>
                <a:sym typeface="Google Sans"/>
              </a:rPr>
              <a:t>Delivery Lifecycle</a:t>
            </a:r>
            <a:endParaRPr b="1" sz="3200">
              <a:solidFill>
                <a:srgbClr val="0000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149" name="Google Shape;149;p20"/>
          <p:cNvGrpSpPr/>
          <p:nvPr/>
        </p:nvGrpSpPr>
        <p:grpSpPr>
          <a:xfrm>
            <a:off x="381000" y="1238250"/>
            <a:ext cx="1600200" cy="3238500"/>
            <a:chOff x="381000" y="1238250"/>
            <a:chExt cx="1600200" cy="3238500"/>
          </a:xfrm>
        </p:grpSpPr>
        <p:sp>
          <p:nvSpPr>
            <p:cNvPr id="150" name="Google Shape;150;p20"/>
            <p:cNvSpPr/>
            <p:nvPr/>
          </p:nvSpPr>
          <p:spPr>
            <a:xfrm>
              <a:off x="381000" y="1238250"/>
              <a:ext cx="1600200" cy="3238500"/>
            </a:xfrm>
            <a:prstGeom prst="roundRect">
              <a:avLst>
                <a:gd fmla="val 7142" name="adj"/>
              </a:avLst>
            </a:prstGeom>
            <a:solidFill>
              <a:srgbClr val="F8F9FA"/>
            </a:solidFill>
            <a:ln cap="flat" cmpd="sng" w="9525">
              <a:solidFill>
                <a:srgbClr val="E8EA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20"/>
            <p:cNvSpPr txBox="1"/>
            <p:nvPr/>
          </p:nvSpPr>
          <p:spPr>
            <a:xfrm>
              <a:off x="523875" y="1416177"/>
              <a:ext cx="1314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0000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analytics</a:t>
              </a:r>
              <a:endParaRPr sz="2400">
                <a:solidFill>
                  <a:srgbClr val="0000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52" name="Google Shape;152;p20"/>
            <p:cNvSpPr txBox="1"/>
            <p:nvPr/>
          </p:nvSpPr>
          <p:spPr>
            <a:xfrm>
              <a:off x="523875" y="1857375"/>
              <a:ext cx="13146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000FF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1. Growth &amp; Data Audit</a:t>
              </a:r>
              <a:endParaRPr b="1" sz="1300">
                <a:solidFill>
                  <a:srgbClr val="0000FF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C4043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We assess your current marketing investments and evaluate natively available data streams within BigQuery, identifying necessary external and control variables.</a:t>
              </a:r>
              <a:endParaRPr b="0" sz="1100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grpSp>
        <p:nvGrpSpPr>
          <p:cNvPr id="153" name="Google Shape;153;p20"/>
          <p:cNvGrpSpPr/>
          <p:nvPr/>
        </p:nvGrpSpPr>
        <p:grpSpPr>
          <a:xfrm>
            <a:off x="2095500" y="1238250"/>
            <a:ext cx="1600200" cy="3238500"/>
            <a:chOff x="2095500" y="1238250"/>
            <a:chExt cx="1600200" cy="3238500"/>
          </a:xfrm>
        </p:grpSpPr>
        <p:sp>
          <p:nvSpPr>
            <p:cNvPr id="154" name="Google Shape;154;p20"/>
            <p:cNvSpPr/>
            <p:nvPr/>
          </p:nvSpPr>
          <p:spPr>
            <a:xfrm>
              <a:off x="2095500" y="1238250"/>
              <a:ext cx="1600200" cy="3238500"/>
            </a:xfrm>
            <a:prstGeom prst="roundRect">
              <a:avLst>
                <a:gd fmla="val 7142" name="adj"/>
              </a:avLst>
            </a:prstGeom>
            <a:solidFill>
              <a:srgbClr val="F8F9FA"/>
            </a:solidFill>
            <a:ln cap="flat" cmpd="sng" w="9525">
              <a:solidFill>
                <a:srgbClr val="E8EA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20"/>
            <p:cNvSpPr txBox="1"/>
            <p:nvPr/>
          </p:nvSpPr>
          <p:spPr>
            <a:xfrm>
              <a:off x="2238375" y="1416177"/>
              <a:ext cx="1314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0000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cloud_download</a:t>
              </a:r>
              <a:endParaRPr sz="2400">
                <a:solidFill>
                  <a:srgbClr val="0000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56" name="Google Shape;156;p20"/>
            <p:cNvSpPr txBox="1"/>
            <p:nvPr/>
          </p:nvSpPr>
          <p:spPr>
            <a:xfrm>
              <a:off x="2238375" y="1857375"/>
              <a:ext cx="13146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000FF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2. Data Ingestion</a:t>
              </a:r>
              <a:endParaRPr b="1" sz="1300">
                <a:solidFill>
                  <a:srgbClr val="0000FF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C4043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We capture, clean, and inject these critical variables into BigQuery, separating the signal from the noise.</a:t>
              </a:r>
              <a:endParaRPr b="0" sz="1100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grpSp>
        <p:nvGrpSpPr>
          <p:cNvPr id="157" name="Google Shape;157;p20"/>
          <p:cNvGrpSpPr/>
          <p:nvPr/>
        </p:nvGrpSpPr>
        <p:grpSpPr>
          <a:xfrm>
            <a:off x="3810000" y="1238250"/>
            <a:ext cx="1600200" cy="3238500"/>
            <a:chOff x="3810000" y="1238250"/>
            <a:chExt cx="1600200" cy="3238500"/>
          </a:xfrm>
        </p:grpSpPr>
        <p:sp>
          <p:nvSpPr>
            <p:cNvPr id="158" name="Google Shape;158;p20"/>
            <p:cNvSpPr/>
            <p:nvPr/>
          </p:nvSpPr>
          <p:spPr>
            <a:xfrm>
              <a:off x="3810000" y="1238250"/>
              <a:ext cx="1600200" cy="3238500"/>
            </a:xfrm>
            <a:prstGeom prst="roundRect">
              <a:avLst>
                <a:gd fmla="val 7142" name="adj"/>
              </a:avLst>
            </a:prstGeom>
            <a:solidFill>
              <a:srgbClr val="F8F9FA"/>
            </a:solidFill>
            <a:ln cap="flat" cmpd="sng" w="9525">
              <a:solidFill>
                <a:srgbClr val="E8EA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20"/>
            <p:cNvSpPr txBox="1"/>
            <p:nvPr/>
          </p:nvSpPr>
          <p:spPr>
            <a:xfrm>
              <a:off x="3952875" y="1416177"/>
              <a:ext cx="1314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0000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settings_suggest</a:t>
              </a:r>
              <a:endParaRPr sz="2400">
                <a:solidFill>
                  <a:srgbClr val="0000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60" name="Google Shape;160;p20"/>
            <p:cNvSpPr txBox="1"/>
            <p:nvPr/>
          </p:nvSpPr>
          <p:spPr>
            <a:xfrm>
              <a:off x="3952875" y="1857375"/>
              <a:ext cx="13146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000FF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3. Model Calibration</a:t>
              </a:r>
              <a:endParaRPr b="1" sz="1300">
                <a:solidFill>
                  <a:srgbClr val="0000FF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C4043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We continually inject deterministic incrementality experiments to train and refine the model.</a:t>
              </a:r>
              <a:endParaRPr b="0" sz="1100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grpSp>
        <p:nvGrpSpPr>
          <p:cNvPr id="161" name="Google Shape;161;p20"/>
          <p:cNvGrpSpPr/>
          <p:nvPr/>
        </p:nvGrpSpPr>
        <p:grpSpPr>
          <a:xfrm>
            <a:off x="5524500" y="1238250"/>
            <a:ext cx="1600200" cy="3238500"/>
            <a:chOff x="5524500" y="1238250"/>
            <a:chExt cx="1600200" cy="3238500"/>
          </a:xfrm>
        </p:grpSpPr>
        <p:sp>
          <p:nvSpPr>
            <p:cNvPr id="162" name="Google Shape;162;p20"/>
            <p:cNvSpPr/>
            <p:nvPr/>
          </p:nvSpPr>
          <p:spPr>
            <a:xfrm>
              <a:off x="5524500" y="1238250"/>
              <a:ext cx="1600200" cy="3238500"/>
            </a:xfrm>
            <a:prstGeom prst="roundRect">
              <a:avLst>
                <a:gd fmla="val 7142" name="adj"/>
              </a:avLst>
            </a:prstGeom>
            <a:solidFill>
              <a:srgbClr val="F8F9FA"/>
            </a:solidFill>
            <a:ln cap="flat" cmpd="sng" w="9525">
              <a:solidFill>
                <a:srgbClr val="E8EA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20"/>
            <p:cNvSpPr txBox="1"/>
            <p:nvPr/>
          </p:nvSpPr>
          <p:spPr>
            <a:xfrm>
              <a:off x="5667375" y="1416177"/>
              <a:ext cx="1314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0000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lightbulb</a:t>
              </a:r>
              <a:endParaRPr sz="2400">
                <a:solidFill>
                  <a:srgbClr val="0000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64" name="Google Shape;164;p20"/>
            <p:cNvSpPr txBox="1"/>
            <p:nvPr/>
          </p:nvSpPr>
          <p:spPr>
            <a:xfrm>
              <a:off x="5667375" y="1857375"/>
              <a:ext cx="13146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000FF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4. Hypothesis Formulation</a:t>
              </a:r>
              <a:endParaRPr b="1" sz="1300">
                <a:solidFill>
                  <a:srgbClr val="0000FF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C4043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We analyze Google Ads DDA data to formulate the hypothesis that drive our incrementality testing.</a:t>
              </a:r>
              <a:endParaRPr b="0" sz="1100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grpSp>
        <p:nvGrpSpPr>
          <p:cNvPr id="165" name="Google Shape;165;p20"/>
          <p:cNvGrpSpPr/>
          <p:nvPr/>
        </p:nvGrpSpPr>
        <p:grpSpPr>
          <a:xfrm>
            <a:off x="7238801" y="1238250"/>
            <a:ext cx="1848231" cy="3238500"/>
            <a:chOff x="7239000" y="1238250"/>
            <a:chExt cx="1600200" cy="3238500"/>
          </a:xfrm>
        </p:grpSpPr>
        <p:sp>
          <p:nvSpPr>
            <p:cNvPr id="166" name="Google Shape;166;p20"/>
            <p:cNvSpPr/>
            <p:nvPr/>
          </p:nvSpPr>
          <p:spPr>
            <a:xfrm>
              <a:off x="7239000" y="1238250"/>
              <a:ext cx="1600200" cy="3238500"/>
            </a:xfrm>
            <a:prstGeom prst="roundRect">
              <a:avLst>
                <a:gd fmla="val 7142" name="adj"/>
              </a:avLst>
            </a:prstGeom>
            <a:solidFill>
              <a:srgbClr val="F8F9FA"/>
            </a:solidFill>
            <a:ln cap="flat" cmpd="sng" w="9525">
              <a:solidFill>
                <a:srgbClr val="E8EA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0"/>
            <p:cNvSpPr txBox="1"/>
            <p:nvPr/>
          </p:nvSpPr>
          <p:spPr>
            <a:xfrm>
              <a:off x="7381875" y="1416177"/>
              <a:ext cx="1314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0000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sz="2400">
                <a:solidFill>
                  <a:srgbClr val="0000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68" name="Google Shape;168;p20"/>
            <p:cNvSpPr txBox="1"/>
            <p:nvPr/>
          </p:nvSpPr>
          <p:spPr>
            <a:xfrm>
              <a:off x="7381875" y="1857375"/>
              <a:ext cx="13146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3">
                  <a:solidFill>
                    <a:srgbClr val="0000FF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5. Democratization via AI</a:t>
              </a:r>
              <a:endParaRPr b="1" sz="1203">
                <a:solidFill>
                  <a:srgbClr val="0000FF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18">
                  <a:solidFill>
                    <a:srgbClr val="3C4043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We connect Meridian to an MCP server, allowing anyone in your organization to query the MMM via simple chat.</a:t>
              </a:r>
              <a:endParaRPr b="0" sz="1018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1"/>
          <p:cNvSpPr txBox="1"/>
          <p:nvPr/>
        </p:nvSpPr>
        <p:spPr>
          <a:xfrm>
            <a:off x="381000" y="28575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000FF"/>
                </a:solidFill>
                <a:latin typeface="Google Sans"/>
                <a:ea typeface="Google Sans"/>
                <a:cs typeface="Google Sans"/>
                <a:sym typeface="Google Sans"/>
              </a:rPr>
              <a:t>Frequently Asked Questions</a:t>
            </a:r>
            <a:endParaRPr b="1" sz="3200">
              <a:solidFill>
                <a:srgbClr val="0000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174" name="Google Shape;174;p21"/>
          <p:cNvGrpSpPr/>
          <p:nvPr/>
        </p:nvGrpSpPr>
        <p:grpSpPr>
          <a:xfrm>
            <a:off x="381000" y="1047750"/>
            <a:ext cx="8382150" cy="3619500"/>
            <a:chOff x="381000" y="1047750"/>
            <a:chExt cx="8382150" cy="3619500"/>
          </a:xfrm>
        </p:grpSpPr>
        <p:grpSp>
          <p:nvGrpSpPr>
            <p:cNvPr id="175" name="Google Shape;175;p21"/>
            <p:cNvGrpSpPr/>
            <p:nvPr/>
          </p:nvGrpSpPr>
          <p:grpSpPr>
            <a:xfrm>
              <a:off x="381000" y="1047750"/>
              <a:ext cx="4095900" cy="1143000"/>
              <a:chOff x="381000" y="1047750"/>
              <a:chExt cx="4095900" cy="1143000"/>
            </a:xfrm>
          </p:grpSpPr>
          <p:sp>
            <p:nvSpPr>
              <p:cNvPr id="176" name="Google Shape;176;p21"/>
              <p:cNvSpPr/>
              <p:nvPr/>
            </p:nvSpPr>
            <p:spPr>
              <a:xfrm>
                <a:off x="381000" y="1047750"/>
                <a:ext cx="4095900" cy="1143000"/>
              </a:xfrm>
              <a:prstGeom prst="roundRect">
                <a:avLst>
                  <a:gd fmla="val 10000" name="adj"/>
                </a:avLst>
              </a:prstGeom>
              <a:solidFill>
                <a:srgbClr val="F8F9FA"/>
              </a:solidFill>
              <a:ln cap="flat" cmpd="sng" w="9525">
                <a:solidFill>
                  <a:srgbClr val="E8EAE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21"/>
              <p:cNvSpPr txBox="1"/>
              <p:nvPr/>
            </p:nvSpPr>
            <p:spPr>
              <a:xfrm>
                <a:off x="523875" y="1190625"/>
                <a:ext cx="38100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0000FF"/>
                    </a:solidFill>
                    <a:latin typeface="Google Sans"/>
                    <a:ea typeface="Google Sans"/>
                    <a:cs typeface="Google Sans"/>
                    <a:sym typeface="Google Sans"/>
                  </a:rPr>
                  <a:t>Minimum Annual Spend</a:t>
                </a:r>
                <a:endParaRPr b="1" sz="1100">
                  <a:solidFill>
                    <a:srgbClr val="0000FF"/>
                  </a:solidFill>
                  <a:latin typeface="Google Sans"/>
                  <a:ea typeface="Google Sans"/>
                  <a:cs typeface="Google Sans"/>
                  <a:sym typeface="Google Sans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3C4043"/>
                    </a:solidFill>
                    <a:latin typeface="Google Sans"/>
                    <a:ea typeface="Google Sans"/>
                    <a:cs typeface="Google Sans"/>
                    <a:sym typeface="Google Sans"/>
                  </a:rPr>
                  <a:t>Requires at least 1 million USD per year on paid media, advertising, and marketing.</a:t>
                </a:r>
                <a:endParaRPr b="0" sz="1000">
                  <a:solidFill>
                    <a:srgbClr val="3C4043"/>
                  </a:solidFill>
                  <a:latin typeface="Google Sans"/>
                  <a:ea typeface="Google Sans"/>
                  <a:cs typeface="Google Sans"/>
                  <a:sym typeface="Google Sans"/>
                </a:endParaRPr>
              </a:p>
            </p:txBody>
          </p:sp>
        </p:grpSp>
        <p:grpSp>
          <p:nvGrpSpPr>
            <p:cNvPr id="178" name="Google Shape;178;p21"/>
            <p:cNvGrpSpPr/>
            <p:nvPr/>
          </p:nvGrpSpPr>
          <p:grpSpPr>
            <a:xfrm>
              <a:off x="4667250" y="1047750"/>
              <a:ext cx="4095900" cy="1143000"/>
              <a:chOff x="4667250" y="1047750"/>
              <a:chExt cx="4095900" cy="1143000"/>
            </a:xfrm>
          </p:grpSpPr>
          <p:sp>
            <p:nvSpPr>
              <p:cNvPr id="179" name="Google Shape;179;p21"/>
              <p:cNvSpPr/>
              <p:nvPr/>
            </p:nvSpPr>
            <p:spPr>
              <a:xfrm>
                <a:off x="4667250" y="1047750"/>
                <a:ext cx="4095900" cy="1143000"/>
              </a:xfrm>
              <a:prstGeom prst="roundRect">
                <a:avLst>
                  <a:gd fmla="val 10000" name="adj"/>
                </a:avLst>
              </a:prstGeom>
              <a:solidFill>
                <a:srgbClr val="F8F9FA"/>
              </a:solidFill>
              <a:ln cap="flat" cmpd="sng" w="9525">
                <a:solidFill>
                  <a:srgbClr val="E8EAE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21"/>
              <p:cNvSpPr txBox="1"/>
              <p:nvPr/>
            </p:nvSpPr>
            <p:spPr>
              <a:xfrm>
                <a:off x="4810125" y="1190625"/>
                <a:ext cx="38100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0000FF"/>
                    </a:solidFill>
                    <a:latin typeface="Google Sans"/>
                    <a:ea typeface="Google Sans"/>
                    <a:cs typeface="Google Sans"/>
                    <a:sym typeface="Google Sans"/>
                  </a:rPr>
                  <a:t>Data Duration Requirements</a:t>
                </a:r>
                <a:endParaRPr b="1" sz="1100">
                  <a:solidFill>
                    <a:srgbClr val="0000FF"/>
                  </a:solidFill>
                  <a:latin typeface="Google Sans"/>
                  <a:ea typeface="Google Sans"/>
                  <a:cs typeface="Google Sans"/>
                  <a:sym typeface="Google Sans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3C4043"/>
                    </a:solidFill>
                    <a:latin typeface="Google Sans"/>
                    <a:ea typeface="Google Sans"/>
                    <a:cs typeface="Google Sans"/>
                    <a:sym typeface="Google Sans"/>
                  </a:rPr>
                  <a:t>At least 2 years of time-series data is needed to account for seasonality. Larger datasets are preferred.</a:t>
                </a:r>
                <a:endParaRPr b="0" sz="1000">
                  <a:solidFill>
                    <a:srgbClr val="3C4043"/>
                  </a:solidFill>
                  <a:latin typeface="Google Sans"/>
                  <a:ea typeface="Google Sans"/>
                  <a:cs typeface="Google Sans"/>
                  <a:sym typeface="Google Sans"/>
                </a:endParaRPr>
              </a:p>
            </p:txBody>
          </p:sp>
        </p:grpSp>
        <p:grpSp>
          <p:nvGrpSpPr>
            <p:cNvPr id="181" name="Google Shape;181;p21"/>
            <p:cNvGrpSpPr/>
            <p:nvPr/>
          </p:nvGrpSpPr>
          <p:grpSpPr>
            <a:xfrm>
              <a:off x="381000" y="2286000"/>
              <a:ext cx="4095900" cy="1143000"/>
              <a:chOff x="381000" y="2286000"/>
              <a:chExt cx="4095900" cy="1143000"/>
            </a:xfrm>
          </p:grpSpPr>
          <p:sp>
            <p:nvSpPr>
              <p:cNvPr id="182" name="Google Shape;182;p21"/>
              <p:cNvSpPr/>
              <p:nvPr/>
            </p:nvSpPr>
            <p:spPr>
              <a:xfrm>
                <a:off x="381000" y="2286000"/>
                <a:ext cx="4095900" cy="1143000"/>
              </a:xfrm>
              <a:prstGeom prst="roundRect">
                <a:avLst>
                  <a:gd fmla="val 10000" name="adj"/>
                </a:avLst>
              </a:prstGeom>
              <a:solidFill>
                <a:srgbClr val="F8F9FA"/>
              </a:solidFill>
              <a:ln cap="flat" cmpd="sng" w="9525">
                <a:solidFill>
                  <a:srgbClr val="E8EAE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21"/>
              <p:cNvSpPr txBox="1"/>
              <p:nvPr/>
            </p:nvSpPr>
            <p:spPr>
              <a:xfrm>
                <a:off x="523875" y="2428875"/>
                <a:ext cx="38100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0000FF"/>
                    </a:solidFill>
                    <a:latin typeface="Google Sans"/>
                    <a:ea typeface="Google Sans"/>
                    <a:cs typeface="Google Sans"/>
                    <a:sym typeface="Google Sans"/>
                  </a:rPr>
                  <a:t>Supported Data Types</a:t>
                </a:r>
                <a:endParaRPr b="1" sz="1100">
                  <a:solidFill>
                    <a:srgbClr val="0000FF"/>
                  </a:solidFill>
                  <a:latin typeface="Google Sans"/>
                  <a:ea typeface="Google Sans"/>
                  <a:cs typeface="Google Sans"/>
                  <a:sym typeface="Google Sans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3C4043"/>
                    </a:solidFill>
                    <a:latin typeface="Google Sans"/>
                    <a:ea typeface="Google Sans"/>
                    <a:cs typeface="Google Sans"/>
                    <a:sym typeface="Google Sans"/>
                  </a:rPr>
                  <a:t>Any time-series variable: competitor activity, offline media, stock volatility (VIX), and more.</a:t>
                </a:r>
                <a:endParaRPr b="0" sz="1000">
                  <a:solidFill>
                    <a:srgbClr val="3C4043"/>
                  </a:solidFill>
                  <a:latin typeface="Google Sans"/>
                  <a:ea typeface="Google Sans"/>
                  <a:cs typeface="Google Sans"/>
                  <a:sym typeface="Google Sans"/>
                </a:endParaRPr>
              </a:p>
            </p:txBody>
          </p:sp>
        </p:grpSp>
        <p:grpSp>
          <p:nvGrpSpPr>
            <p:cNvPr id="184" name="Google Shape;184;p21"/>
            <p:cNvGrpSpPr/>
            <p:nvPr/>
          </p:nvGrpSpPr>
          <p:grpSpPr>
            <a:xfrm>
              <a:off x="4667250" y="2286000"/>
              <a:ext cx="4095900" cy="1143000"/>
              <a:chOff x="4667250" y="2286000"/>
              <a:chExt cx="4095900" cy="1143000"/>
            </a:xfrm>
          </p:grpSpPr>
          <p:sp>
            <p:nvSpPr>
              <p:cNvPr id="185" name="Google Shape;185;p21"/>
              <p:cNvSpPr/>
              <p:nvPr/>
            </p:nvSpPr>
            <p:spPr>
              <a:xfrm>
                <a:off x="4667250" y="2286000"/>
                <a:ext cx="4095900" cy="1143000"/>
              </a:xfrm>
              <a:prstGeom prst="roundRect">
                <a:avLst>
                  <a:gd fmla="val 10000" name="adj"/>
                </a:avLst>
              </a:prstGeom>
              <a:solidFill>
                <a:srgbClr val="F8F9FA"/>
              </a:solidFill>
              <a:ln cap="flat" cmpd="sng" w="9525">
                <a:solidFill>
                  <a:srgbClr val="E8EAE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21"/>
              <p:cNvSpPr txBox="1"/>
              <p:nvPr/>
            </p:nvSpPr>
            <p:spPr>
              <a:xfrm>
                <a:off x="4810125" y="2428875"/>
                <a:ext cx="38100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0000FF"/>
                    </a:solidFill>
                    <a:latin typeface="Google Sans"/>
                    <a:ea typeface="Google Sans"/>
                    <a:cs typeface="Google Sans"/>
                    <a:sym typeface="Google Sans"/>
                  </a:rPr>
                  <a:t>Ideal Tech Stack</a:t>
                </a:r>
                <a:endParaRPr b="1" sz="1100">
                  <a:solidFill>
                    <a:srgbClr val="0000FF"/>
                  </a:solidFill>
                  <a:latin typeface="Google Sans"/>
                  <a:ea typeface="Google Sans"/>
                  <a:cs typeface="Google Sans"/>
                  <a:sym typeface="Google Sans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3C4043"/>
                    </a:solidFill>
                    <a:latin typeface="Google Sans"/>
                    <a:ea typeface="Google Sans"/>
                    <a:cs typeface="Google Sans"/>
                    <a:sym typeface="Google Sans"/>
                  </a:rPr>
                  <a:t>BigQuery is the preferred data warehouse for seamless and accurate MMM ingestion.</a:t>
                </a:r>
                <a:endParaRPr b="0" sz="1000">
                  <a:solidFill>
                    <a:srgbClr val="3C4043"/>
                  </a:solidFill>
                  <a:latin typeface="Google Sans"/>
                  <a:ea typeface="Google Sans"/>
                  <a:cs typeface="Google Sans"/>
                  <a:sym typeface="Google Sans"/>
                </a:endParaRPr>
              </a:p>
            </p:txBody>
          </p:sp>
        </p:grpSp>
        <p:grpSp>
          <p:nvGrpSpPr>
            <p:cNvPr id="187" name="Google Shape;187;p21"/>
            <p:cNvGrpSpPr/>
            <p:nvPr/>
          </p:nvGrpSpPr>
          <p:grpSpPr>
            <a:xfrm>
              <a:off x="381000" y="3524250"/>
              <a:ext cx="4095900" cy="1143000"/>
              <a:chOff x="381000" y="3524250"/>
              <a:chExt cx="4095900" cy="1143000"/>
            </a:xfrm>
          </p:grpSpPr>
          <p:sp>
            <p:nvSpPr>
              <p:cNvPr id="188" name="Google Shape;188;p21"/>
              <p:cNvSpPr/>
              <p:nvPr/>
            </p:nvSpPr>
            <p:spPr>
              <a:xfrm>
                <a:off x="381000" y="3524250"/>
                <a:ext cx="4095900" cy="1143000"/>
              </a:xfrm>
              <a:prstGeom prst="roundRect">
                <a:avLst>
                  <a:gd fmla="val 10000" name="adj"/>
                </a:avLst>
              </a:prstGeom>
              <a:solidFill>
                <a:srgbClr val="F8F9FA"/>
              </a:solidFill>
              <a:ln cap="flat" cmpd="sng" w="9525">
                <a:solidFill>
                  <a:srgbClr val="E8EAE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21"/>
              <p:cNvSpPr txBox="1"/>
              <p:nvPr/>
            </p:nvSpPr>
            <p:spPr>
              <a:xfrm>
                <a:off x="523875" y="3667125"/>
                <a:ext cx="38100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0000FF"/>
                    </a:solidFill>
                    <a:latin typeface="Google Sans"/>
                    <a:ea typeface="Google Sans"/>
                    <a:cs typeface="Google Sans"/>
                    <a:sym typeface="Google Sans"/>
                  </a:rPr>
                  <a:t>Process Costs &amp; Expertise</a:t>
                </a:r>
                <a:endParaRPr b="1" sz="1100">
                  <a:solidFill>
                    <a:srgbClr val="0000FF"/>
                  </a:solidFill>
                  <a:latin typeface="Google Sans"/>
                  <a:ea typeface="Google Sans"/>
                  <a:cs typeface="Google Sans"/>
                  <a:sym typeface="Google Sans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3C4043"/>
                    </a:solidFill>
                    <a:latin typeface="Google Sans"/>
                    <a:ea typeface="Google Sans"/>
                    <a:cs typeface="Google Sans"/>
                    <a:sym typeface="Google Sans"/>
                  </a:rPr>
                  <a:t>Setup starts at ~$10K USD; expert engagements average $50K+ per year. Built on open-source models.</a:t>
                </a:r>
                <a:endParaRPr b="0" sz="1000">
                  <a:solidFill>
                    <a:srgbClr val="3C4043"/>
                  </a:solidFill>
                  <a:latin typeface="Google Sans"/>
                  <a:ea typeface="Google Sans"/>
                  <a:cs typeface="Google Sans"/>
                  <a:sym typeface="Google Sans"/>
                </a:endParaRPr>
              </a:p>
            </p:txBody>
          </p:sp>
        </p:grpSp>
        <p:grpSp>
          <p:nvGrpSpPr>
            <p:cNvPr id="190" name="Google Shape;190;p21"/>
            <p:cNvGrpSpPr/>
            <p:nvPr/>
          </p:nvGrpSpPr>
          <p:grpSpPr>
            <a:xfrm>
              <a:off x="4667250" y="3524250"/>
              <a:ext cx="4095900" cy="1143000"/>
              <a:chOff x="4667250" y="3524250"/>
              <a:chExt cx="4095900" cy="1143000"/>
            </a:xfrm>
          </p:grpSpPr>
          <p:sp>
            <p:nvSpPr>
              <p:cNvPr id="191" name="Google Shape;191;p21"/>
              <p:cNvSpPr/>
              <p:nvPr/>
            </p:nvSpPr>
            <p:spPr>
              <a:xfrm>
                <a:off x="4667250" y="3524250"/>
                <a:ext cx="4095900" cy="1143000"/>
              </a:xfrm>
              <a:prstGeom prst="roundRect">
                <a:avLst>
                  <a:gd fmla="val 10000" name="adj"/>
                </a:avLst>
              </a:prstGeom>
              <a:solidFill>
                <a:srgbClr val="F8F9FA"/>
              </a:solidFill>
              <a:ln cap="flat" cmpd="sng" w="9525">
                <a:solidFill>
                  <a:srgbClr val="E8EAE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21"/>
              <p:cNvSpPr txBox="1"/>
              <p:nvPr/>
            </p:nvSpPr>
            <p:spPr>
              <a:xfrm>
                <a:off x="4810125" y="3667125"/>
                <a:ext cx="38100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0000FF"/>
                    </a:solidFill>
                    <a:latin typeface="Google Sans"/>
                    <a:ea typeface="Google Sans"/>
                    <a:cs typeface="Google Sans"/>
                    <a:sym typeface="Google Sans"/>
                  </a:rPr>
                  <a:t>Expected ROI &amp; Incrementality</a:t>
                </a:r>
                <a:endParaRPr b="1" sz="1100">
                  <a:solidFill>
                    <a:srgbClr val="0000FF"/>
                  </a:solidFill>
                  <a:latin typeface="Google Sans"/>
                  <a:ea typeface="Google Sans"/>
                  <a:cs typeface="Google Sans"/>
                  <a:sym typeface="Google Sans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3C4043"/>
                    </a:solidFill>
                    <a:latin typeface="Google Sans"/>
                    <a:ea typeface="Google Sans"/>
                    <a:cs typeface="Google Sans"/>
                    <a:sym typeface="Google Sans"/>
                  </a:rPr>
                  <a:t>Conservatively drive 15%+ more outcomes at the same cost, or reduce costs by 15%+.</a:t>
                </a:r>
                <a:endParaRPr b="0" sz="1000">
                  <a:solidFill>
                    <a:srgbClr val="3C4043"/>
                  </a:solidFill>
                  <a:latin typeface="Google Sans"/>
                  <a:ea typeface="Google Sans"/>
                  <a:cs typeface="Google Sans"/>
                  <a:sym typeface="Google Sans"/>
                </a:endParaRP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2"/>
          <p:cNvSpPr txBox="1"/>
          <p:nvPr/>
        </p:nvSpPr>
        <p:spPr>
          <a:xfrm>
            <a:off x="381000" y="3810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000FF"/>
                </a:solidFill>
                <a:latin typeface="Google Sans"/>
                <a:ea typeface="Google Sans"/>
                <a:cs typeface="Google Sans"/>
                <a:sym typeface="Google Sans"/>
              </a:rPr>
              <a:t>Poor MMM Practices</a:t>
            </a:r>
            <a:endParaRPr b="1" sz="3200">
              <a:solidFill>
                <a:srgbClr val="0000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198" name="Google Shape;198;p22"/>
          <p:cNvGrpSpPr/>
          <p:nvPr/>
        </p:nvGrpSpPr>
        <p:grpSpPr>
          <a:xfrm>
            <a:off x="381000" y="1143000"/>
            <a:ext cx="4095900" cy="952500"/>
            <a:chOff x="381000" y="1143000"/>
            <a:chExt cx="4095900" cy="952500"/>
          </a:xfrm>
        </p:grpSpPr>
        <p:sp>
          <p:nvSpPr>
            <p:cNvPr id="199" name="Google Shape;199;p22"/>
            <p:cNvSpPr/>
            <p:nvPr/>
          </p:nvSpPr>
          <p:spPr>
            <a:xfrm>
              <a:off x="381000" y="1143000"/>
              <a:ext cx="4095900" cy="952500"/>
            </a:xfrm>
            <a:prstGeom prst="roundRect">
              <a:avLst>
                <a:gd fmla="val 12000" name="adj"/>
              </a:avLst>
            </a:prstGeom>
            <a:solidFill>
              <a:srgbClr val="F8F9FA"/>
            </a:solidFill>
            <a:ln cap="flat" cmpd="sng" w="9525">
              <a:solidFill>
                <a:srgbClr val="E8EA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22"/>
            <p:cNvSpPr txBox="1"/>
            <p:nvPr/>
          </p:nvSpPr>
          <p:spPr>
            <a:xfrm>
              <a:off x="523875" y="1238250"/>
              <a:ext cx="381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00FF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1. Infrequent Planning Cycles</a:t>
              </a:r>
              <a:endParaRPr b="1" sz="1100">
                <a:solidFill>
                  <a:srgbClr val="0000FF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C4043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Engaging MMM on an annual basis. The world is dynamic; we must think in quarters or weeks.</a:t>
              </a:r>
              <a:endParaRPr b="0" sz="1000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grpSp>
        <p:nvGrpSpPr>
          <p:cNvPr id="201" name="Google Shape;201;p22"/>
          <p:cNvGrpSpPr/>
          <p:nvPr/>
        </p:nvGrpSpPr>
        <p:grpSpPr>
          <a:xfrm>
            <a:off x="4667250" y="1143000"/>
            <a:ext cx="4095900" cy="952500"/>
            <a:chOff x="4667250" y="1143000"/>
            <a:chExt cx="4095900" cy="952500"/>
          </a:xfrm>
        </p:grpSpPr>
        <p:sp>
          <p:nvSpPr>
            <p:cNvPr id="202" name="Google Shape;202;p22"/>
            <p:cNvSpPr/>
            <p:nvPr/>
          </p:nvSpPr>
          <p:spPr>
            <a:xfrm>
              <a:off x="4667250" y="1143000"/>
              <a:ext cx="4095900" cy="952500"/>
            </a:xfrm>
            <a:prstGeom prst="roundRect">
              <a:avLst>
                <a:gd fmla="val 12000" name="adj"/>
              </a:avLst>
            </a:prstGeom>
            <a:solidFill>
              <a:srgbClr val="F8F9FA"/>
            </a:solidFill>
            <a:ln cap="flat" cmpd="sng" w="9525">
              <a:solidFill>
                <a:srgbClr val="E8EA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22"/>
            <p:cNvSpPr txBox="1"/>
            <p:nvPr/>
          </p:nvSpPr>
          <p:spPr>
            <a:xfrm>
              <a:off x="4810125" y="1238250"/>
              <a:ext cx="381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00FF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2. Post-Report Abandonment</a:t>
              </a:r>
              <a:endParaRPr b="1" sz="1100">
                <a:solidFill>
                  <a:srgbClr val="0000FF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C4043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Neglecting data ingestion and Bayesian prior settings after a consultant report is submitted.</a:t>
              </a:r>
              <a:endParaRPr b="0" sz="1000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grpSp>
        <p:nvGrpSpPr>
          <p:cNvPr id="204" name="Google Shape;204;p22"/>
          <p:cNvGrpSpPr/>
          <p:nvPr/>
        </p:nvGrpSpPr>
        <p:grpSpPr>
          <a:xfrm>
            <a:off x="381000" y="2286000"/>
            <a:ext cx="4095900" cy="952500"/>
            <a:chOff x="381000" y="2286000"/>
            <a:chExt cx="4095900" cy="952500"/>
          </a:xfrm>
        </p:grpSpPr>
        <p:sp>
          <p:nvSpPr>
            <p:cNvPr id="205" name="Google Shape;205;p22"/>
            <p:cNvSpPr/>
            <p:nvPr/>
          </p:nvSpPr>
          <p:spPr>
            <a:xfrm>
              <a:off x="381000" y="2286000"/>
              <a:ext cx="4095900" cy="952500"/>
            </a:xfrm>
            <a:prstGeom prst="roundRect">
              <a:avLst>
                <a:gd fmla="val 12000" name="adj"/>
              </a:avLst>
            </a:prstGeom>
            <a:solidFill>
              <a:srgbClr val="F8F9FA"/>
            </a:solidFill>
            <a:ln cap="flat" cmpd="sng" w="9525">
              <a:solidFill>
                <a:srgbClr val="E8EA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2"/>
            <p:cNvSpPr txBox="1"/>
            <p:nvPr/>
          </p:nvSpPr>
          <p:spPr>
            <a:xfrm>
              <a:off x="523875" y="2381250"/>
              <a:ext cx="381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00FF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3. Irregular Prior Updates</a:t>
              </a:r>
              <a:endParaRPr b="1" sz="1100">
                <a:solidFill>
                  <a:srgbClr val="0000FF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C4043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Not feeding priors systematically keeps models unintelligent. Regular updates build better knowledge.</a:t>
              </a:r>
              <a:endParaRPr b="0" sz="1000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grpSp>
        <p:nvGrpSpPr>
          <p:cNvPr id="207" name="Google Shape;207;p22"/>
          <p:cNvGrpSpPr/>
          <p:nvPr/>
        </p:nvGrpSpPr>
        <p:grpSpPr>
          <a:xfrm>
            <a:off x="4667250" y="2286000"/>
            <a:ext cx="4095900" cy="952500"/>
            <a:chOff x="4667250" y="2286000"/>
            <a:chExt cx="4095900" cy="952500"/>
          </a:xfrm>
        </p:grpSpPr>
        <p:sp>
          <p:nvSpPr>
            <p:cNvPr id="208" name="Google Shape;208;p22"/>
            <p:cNvSpPr/>
            <p:nvPr/>
          </p:nvSpPr>
          <p:spPr>
            <a:xfrm>
              <a:off x="4667250" y="2286000"/>
              <a:ext cx="4095900" cy="952500"/>
            </a:xfrm>
            <a:prstGeom prst="roundRect">
              <a:avLst>
                <a:gd fmla="val 12000" name="adj"/>
              </a:avLst>
            </a:prstGeom>
            <a:solidFill>
              <a:srgbClr val="F8F9FA"/>
            </a:solidFill>
            <a:ln cap="flat" cmpd="sng" w="9525">
              <a:solidFill>
                <a:srgbClr val="E8EA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22"/>
            <p:cNvSpPr txBox="1"/>
            <p:nvPr/>
          </p:nvSpPr>
          <p:spPr>
            <a:xfrm>
              <a:off x="4810125" y="2381250"/>
              <a:ext cx="381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00FF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4. Ignoring Ads-Data Hub</a:t>
              </a:r>
              <a:endParaRPr b="1" sz="1100">
                <a:solidFill>
                  <a:srgbClr val="0000FF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C4043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Overlooking the only platform for privacy-safe customer journey insights out of the box.</a:t>
              </a:r>
              <a:endParaRPr b="0" sz="1000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grpSp>
        <p:nvGrpSpPr>
          <p:cNvPr id="210" name="Google Shape;210;p22"/>
          <p:cNvGrpSpPr/>
          <p:nvPr/>
        </p:nvGrpSpPr>
        <p:grpSpPr>
          <a:xfrm>
            <a:off x="381000" y="3429000"/>
            <a:ext cx="8382000" cy="952500"/>
            <a:chOff x="381000" y="3429000"/>
            <a:chExt cx="8382000" cy="952500"/>
          </a:xfrm>
        </p:grpSpPr>
        <p:sp>
          <p:nvSpPr>
            <p:cNvPr id="211" name="Google Shape;211;p22"/>
            <p:cNvSpPr/>
            <p:nvPr/>
          </p:nvSpPr>
          <p:spPr>
            <a:xfrm>
              <a:off x="381000" y="3429000"/>
              <a:ext cx="8382000" cy="952500"/>
            </a:xfrm>
            <a:prstGeom prst="roundRect">
              <a:avLst>
                <a:gd fmla="val 12000" name="adj"/>
              </a:avLst>
            </a:prstGeom>
            <a:solidFill>
              <a:srgbClr val="F8F9FA"/>
            </a:solidFill>
            <a:ln cap="flat" cmpd="sng" w="9525">
              <a:solidFill>
                <a:srgbClr val="E8EA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22"/>
            <p:cNvSpPr txBox="1"/>
            <p:nvPr/>
          </p:nvSpPr>
          <p:spPr>
            <a:xfrm>
              <a:off x="523875" y="3524250"/>
              <a:ext cx="8096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00FF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5. Lack of Democratization</a:t>
              </a:r>
              <a:endParaRPr b="1" sz="1100">
                <a:solidFill>
                  <a:srgbClr val="0000FF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C4043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MMM must be accessible via conversational AI. Without democratization, it fails to become part of the company's growth DNA.</a:t>
              </a:r>
              <a:endParaRPr b="0" sz="1000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